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4" r:id="rId9"/>
    <p:sldId id="277" r:id="rId10"/>
    <p:sldId id="266" r:id="rId11"/>
    <p:sldId id="267" r:id="rId12"/>
    <p:sldId id="272" r:id="rId13"/>
    <p:sldId id="269" r:id="rId14"/>
    <p:sldId id="273" r:id="rId15"/>
    <p:sldId id="274" r:id="rId16"/>
    <p:sldId id="262" r:id="rId17"/>
    <p:sldId id="271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545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963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54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014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60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93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95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33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161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836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43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183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26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828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1182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4362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220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2AC24A9-CCB6-4F8D-B8DB-C2F3692CFA5A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75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light bulb with business icons">
            <a:extLst>
              <a:ext uri="{FF2B5EF4-FFF2-40B4-BE49-F238E27FC236}">
                <a16:creationId xmlns:a16="http://schemas.microsoft.com/office/drawing/2014/main" id="{09A2D1BA-5CE8-DC82-26C6-341BE504E6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68" r="9853" b="1"/>
          <a:stretch/>
        </p:blipFill>
        <p:spPr>
          <a:xfrm>
            <a:off x="20" y="10"/>
            <a:ext cx="7652064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BE7271-BE0C-428E-839B-E8D77AC52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918291"/>
            <a:ext cx="4023360" cy="5203376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2000" b="0" dirty="0">
                <a:latin typeface="Avenir Next LT Pro Light" panose="020B0304020202020204" pitchFamily="34" charset="0"/>
              </a:rPr>
              <a:t>Team name : </a:t>
            </a:r>
            <a:r>
              <a:rPr lang="en-US" sz="2000" b="1" dirty="0">
                <a:latin typeface="Avenir Next LT Pro Light" panose="020B0304020202020204" pitchFamily="34" charset="0"/>
              </a:rPr>
              <a:t>BISQUAD</a:t>
            </a:r>
            <a:r>
              <a:rPr lang="en-US" sz="2000" dirty="0">
                <a:latin typeface="Avenir Next LT Pro Light" panose="020B0304020202020204" pitchFamily="34" charset="0"/>
              </a:rPr>
              <a:t> </a:t>
            </a:r>
            <a:br>
              <a:rPr lang="en-US" sz="2000" b="0" dirty="0">
                <a:latin typeface="Avenir Next LT Pro Light" panose="020B0304020202020204" pitchFamily="34" charset="0"/>
              </a:rPr>
            </a:br>
            <a:br>
              <a:rPr lang="en-US" sz="2000" b="0" dirty="0">
                <a:latin typeface="Avenir Next LT Pro Light" panose="020B0304020202020204" pitchFamily="34" charset="0"/>
              </a:rPr>
            </a:br>
            <a:r>
              <a:rPr lang="en-US" sz="2000" b="0" dirty="0">
                <a:latin typeface="Avenir Next LT Pro Light" panose="020B0304020202020204" pitchFamily="34" charset="0"/>
              </a:rPr>
              <a:t>Team Captain Name : Suryadevara                          Sanjana </a:t>
            </a:r>
            <a:br>
              <a:rPr lang="en-US" sz="2000" b="0" dirty="0">
                <a:latin typeface="Avenir Next LT Pro Light" panose="020B0304020202020204" pitchFamily="34" charset="0"/>
              </a:rPr>
            </a:br>
            <a:br>
              <a:rPr lang="en-US" sz="2000" b="0" dirty="0">
                <a:latin typeface="Avenir Next LT Pro Light" panose="020B0304020202020204" pitchFamily="34" charset="0"/>
              </a:rPr>
            </a:br>
            <a:r>
              <a:rPr lang="en-US" sz="2000" b="0" dirty="0">
                <a:latin typeface="Avenir Next LT Pro Light" panose="020B0304020202020204" pitchFamily="34" charset="0"/>
              </a:rPr>
              <a:t>Team Captain Email : </a:t>
            </a:r>
            <a:br>
              <a:rPr lang="en-US" sz="2000" b="0" dirty="0">
                <a:latin typeface="Avenir Next LT Pro Light" panose="020B0304020202020204" pitchFamily="34" charset="0"/>
              </a:rPr>
            </a:br>
            <a:r>
              <a:rPr lang="en-IN" sz="2000" b="0" i="0" dirty="0">
                <a:solidFill>
                  <a:srgbClr val="5F6368"/>
                </a:solidFill>
                <a:effectLst/>
                <a:latin typeface="Avenir Next LT Pro Light" panose="020B0304020202020204" pitchFamily="34" charset="0"/>
              </a:rPr>
              <a:t>sanjanasuryadevara2004</a:t>
            </a:r>
            <a:r>
              <a:rPr lang="en-IN" sz="2000" dirty="0">
                <a:solidFill>
                  <a:srgbClr val="5F6368"/>
                </a:solidFill>
                <a:latin typeface="Roboto" panose="02000000000000000000" pitchFamily="2" charset="0"/>
              </a:rPr>
              <a:t>@gmail.com</a:t>
            </a:r>
            <a:br>
              <a:rPr lang="en-US" sz="2000" b="0" dirty="0">
                <a:latin typeface="Avenir Next LT Pro Light" panose="020B0304020202020204" pitchFamily="34" charset="0"/>
              </a:rPr>
            </a:br>
            <a:br>
              <a:rPr lang="en-US" sz="2000" b="0" dirty="0">
                <a:latin typeface="Avenir Next LT Pro Light" panose="020B0304020202020204" pitchFamily="34" charset="0"/>
              </a:rPr>
            </a:br>
            <a:r>
              <a:rPr lang="en-US" sz="2000" b="0" dirty="0">
                <a:latin typeface="Avenir Next LT Pro Light" panose="020B0304020202020204" pitchFamily="34" charset="0"/>
              </a:rPr>
              <a:t>No. of Team Numbers : 2</a:t>
            </a:r>
            <a:br>
              <a:rPr lang="en-US" sz="2000" b="0" dirty="0">
                <a:latin typeface="Avenir Next LT Pro Light" panose="020B0304020202020204" pitchFamily="34" charset="0"/>
              </a:rPr>
            </a:br>
            <a:br>
              <a:rPr lang="en-US" sz="2000" b="0" dirty="0">
                <a:latin typeface="Avenir Next LT Pro Light" panose="020B0304020202020204" pitchFamily="34" charset="0"/>
              </a:rPr>
            </a:br>
            <a:r>
              <a:rPr lang="en-US" sz="2000" b="0" dirty="0">
                <a:latin typeface="Avenir Next LT Pro Light" panose="020B0304020202020204" pitchFamily="34" charset="0"/>
              </a:rPr>
              <a:t>Team Details : Suryadevara Sanjana </a:t>
            </a:r>
            <a:br>
              <a:rPr lang="en-US" sz="2000" b="0" dirty="0">
                <a:latin typeface="Avenir Next LT Pro Light" panose="020B0304020202020204" pitchFamily="34" charset="0"/>
              </a:rPr>
            </a:br>
            <a:r>
              <a:rPr lang="en-US" sz="2000" b="0" dirty="0">
                <a:latin typeface="Avenir Next LT Pro Light" panose="020B0304020202020204" pitchFamily="34" charset="0"/>
              </a:rPr>
              <a:t>                           </a:t>
            </a:r>
            <a:r>
              <a:rPr lang="en-US" sz="2000" b="0" dirty="0" err="1">
                <a:latin typeface="Avenir Next LT Pro Light" panose="020B0304020202020204" pitchFamily="34" charset="0"/>
              </a:rPr>
              <a:t>Kollu</a:t>
            </a:r>
            <a:r>
              <a:rPr lang="en-US" sz="2000" b="0" dirty="0">
                <a:latin typeface="Avenir Next LT Pro Light" panose="020B0304020202020204" pitchFamily="34" charset="0"/>
              </a:rPr>
              <a:t> </a:t>
            </a:r>
            <a:r>
              <a:rPr lang="en-US" sz="2000" b="0" dirty="0" err="1">
                <a:latin typeface="Avenir Next LT Pro Light" panose="020B0304020202020204" pitchFamily="34" charset="0"/>
              </a:rPr>
              <a:t>Bargavi</a:t>
            </a:r>
            <a:r>
              <a:rPr lang="en-US" sz="2000" b="0" dirty="0">
                <a:latin typeface="Avenir Next LT Pro Light" panose="020B0304020202020204" pitchFamily="34" charset="0"/>
              </a:rPr>
              <a:t> </a:t>
            </a:r>
            <a:br>
              <a:rPr lang="en-US" sz="2000" b="0" dirty="0">
                <a:latin typeface="Avenir Next LT Pro Light" panose="020B0304020202020204" pitchFamily="34" charset="0"/>
              </a:rPr>
            </a:br>
            <a:br>
              <a:rPr lang="en-US" sz="2000" dirty="0">
                <a:latin typeface="Avenir Next LT Pro Light" panose="020B0304020202020204" pitchFamily="34" charset="0"/>
              </a:rPr>
            </a:br>
            <a:br>
              <a:rPr lang="en-US" sz="2000" dirty="0">
                <a:latin typeface="Avenir Next LT Pro Light" panose="020B0304020202020204" pitchFamily="34" charset="0"/>
              </a:rPr>
            </a:br>
            <a:br>
              <a:rPr lang="en-US" sz="2000" dirty="0">
                <a:latin typeface="Avenir Next LT Pro Light" panose="020B0304020202020204" pitchFamily="34" charset="0"/>
              </a:rPr>
            </a:br>
            <a:br>
              <a:rPr lang="en-US" sz="2000" dirty="0">
                <a:latin typeface="Avenir Next LT Pro Light" panose="020B0304020202020204" pitchFamily="34" charset="0"/>
              </a:rPr>
            </a:br>
            <a:br>
              <a:rPr lang="en-US" sz="2000" dirty="0">
                <a:latin typeface="Avenir Next LT Pro Light" panose="020B0304020202020204" pitchFamily="34" charset="0"/>
              </a:rPr>
            </a:br>
            <a:endParaRPr lang="en-IN" sz="2000" dirty="0">
              <a:latin typeface="Avenir Next LT Pro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939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68B42-D766-45F2-B438-17CCB7406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DOMAIN AND PROBLEM STATEMENT 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40915-5763-457B-BCB1-E4F2A2256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6690" y="2666198"/>
            <a:ext cx="8887005" cy="290682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venir Next LT Pro Light" panose="020B0304020202020204" pitchFamily="34" charset="0"/>
              </a:rPr>
              <a:t>Domain : Smart Education </a:t>
            </a:r>
          </a:p>
          <a:p>
            <a:pPr marL="0" indent="0">
              <a:buNone/>
            </a:pPr>
            <a:endParaRPr lang="en-US" dirty="0">
              <a:latin typeface="Avenir Next LT Pro Light" panose="020B03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venir Next LT Pro Light" panose="020B0304020202020204" pitchFamily="34" charset="0"/>
              </a:rPr>
              <a:t>Problem Statement : Gamified Learning </a:t>
            </a:r>
            <a:endParaRPr lang="en-IN" dirty="0">
              <a:latin typeface="Avenir Next LT Pro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735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DE874-7B86-45FE-931C-D428F4344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760395"/>
            <a:ext cx="5455504" cy="1694047"/>
          </a:xfrm>
        </p:spPr>
        <p:txBody>
          <a:bodyPr>
            <a:norm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Gamified Learning 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FA4C9-C9E2-4CDD-8227-0AB941BA2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5052" y="2820202"/>
            <a:ext cx="9716418" cy="3493970"/>
          </a:xfrm>
        </p:spPr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Avenir Next LT Pro Light" panose="020B0304020202020204" pitchFamily="34" charset="0"/>
              </a:rPr>
              <a:t>The </a:t>
            </a:r>
            <a:r>
              <a:rPr lang="en-US" b="1" i="0" dirty="0">
                <a:effectLst/>
                <a:latin typeface="Avenir Next LT Pro Light" panose="020B0304020202020204" pitchFamily="34" charset="0"/>
              </a:rPr>
              <a:t>Gamification of Learning</a:t>
            </a:r>
            <a:r>
              <a:rPr lang="en-US" b="0" i="0" dirty="0">
                <a:effectLst/>
                <a:latin typeface="Avenir Next LT Pro Light" panose="020B0304020202020204" pitchFamily="34" charset="0"/>
              </a:rPr>
              <a:t> is an educational approach that  seeks to motivate students by using </a:t>
            </a:r>
            <a:r>
              <a:rPr lang="en-US" b="0" i="0" u="none" strike="noStrike" dirty="0">
                <a:effectLst/>
                <a:latin typeface="Avenir Next LT Pro Light" panose="020B0304020202020204" pitchFamily="34" charset="0"/>
              </a:rPr>
              <a:t>video game design</a:t>
            </a:r>
            <a:r>
              <a:rPr lang="en-US" b="0" i="0" dirty="0">
                <a:effectLst/>
                <a:latin typeface="Avenir Next LT Pro Light" panose="020B0304020202020204" pitchFamily="34" charset="0"/>
              </a:rPr>
              <a:t> and game elements in learning environments.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Avenir Next LT Pro Light" panose="020B0304020202020204" pitchFamily="34" charset="0"/>
              </a:rPr>
              <a:t>The </a:t>
            </a:r>
            <a:r>
              <a:rPr lang="en-US" b="1" i="0" dirty="0">
                <a:effectLst/>
                <a:latin typeface="Avenir Next LT Pro Light" panose="020B0304020202020204" pitchFamily="34" charset="0"/>
              </a:rPr>
              <a:t>Goal</a:t>
            </a:r>
            <a:r>
              <a:rPr lang="en-US" b="0" i="0" dirty="0">
                <a:effectLst/>
                <a:latin typeface="Avenir Next LT Pro Light" panose="020B0304020202020204" pitchFamily="34" charset="0"/>
              </a:rPr>
              <a:t> is to maximize enjoyment and engagement by capturing the interest of learners and inspiring them to continue learning.  </a:t>
            </a:r>
            <a:endParaRPr lang="en-US" dirty="0">
              <a:latin typeface="Avenir Next LT Pro Light" panose="020B0304020202020204" pitchFamily="34" charset="0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02122"/>
                </a:solidFill>
                <a:latin typeface="Avenir Next LT Pro Light" panose="020B0304020202020204" pitchFamily="34" charset="0"/>
              </a:rPr>
              <a:t>G</a:t>
            </a:r>
            <a:r>
              <a:rPr lang="en-US" b="0" i="0" dirty="0">
                <a:solidFill>
                  <a:srgbClr val="202122"/>
                </a:solidFill>
                <a:effectLst/>
                <a:latin typeface="Avenir Next LT Pro Light" panose="020B0304020202020204" pitchFamily="34" charset="0"/>
              </a:rPr>
              <a:t>amification is the introduction of game elements into a traditionally non-game situation . </a:t>
            </a:r>
            <a:endParaRPr lang="en-IN" dirty="0">
              <a:latin typeface="Avenir Next LT Pro Light" panose="020B0304020202020204" pitchFamily="34" charset="0"/>
            </a:endParaRPr>
          </a:p>
        </p:txBody>
      </p:sp>
      <p:pic>
        <p:nvPicPr>
          <p:cNvPr id="1026" name="Picture 2" descr="23 Effective Uses Of Gamification In Learning: Part 1 - eLearning Industry">
            <a:extLst>
              <a:ext uri="{FF2B5EF4-FFF2-40B4-BE49-F238E27FC236}">
                <a16:creationId xmlns:a16="http://schemas.microsoft.com/office/drawing/2014/main" id="{411C8ADD-F6A0-478A-8429-64BDDC365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0704" y="211757"/>
            <a:ext cx="4085638" cy="271091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53073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8 Principles Of Gamified Learning">
            <a:extLst>
              <a:ext uri="{FF2B5EF4-FFF2-40B4-BE49-F238E27FC236}">
                <a16:creationId xmlns:a16="http://schemas.microsoft.com/office/drawing/2014/main" id="{AFE13855-3B5F-4A14-95E9-D94276DE2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520" y="413886"/>
            <a:ext cx="8832783" cy="60061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40277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F0F15-43CE-48D7-91C4-3F3B221FF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02131"/>
            <a:ext cx="10018713" cy="1193531"/>
          </a:xfrm>
        </p:spPr>
        <p:txBody>
          <a:bodyPr>
            <a:norm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PROBLEM 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BECB8E9-9E93-4FD8-81C9-11D1069FD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107933"/>
            <a:ext cx="10018713" cy="3683267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500" dirty="0">
                <a:latin typeface="Avenir Next LT Pro Light" panose="020B0304020202020204" pitchFamily="34" charset="0"/>
              </a:rPr>
              <a:t>Nowadays, Children hate the learning process because they have to repeatedly learn the same thing for a long time. Making learning an interesting activity can be of great help . So </a:t>
            </a:r>
            <a:r>
              <a:rPr lang="en-US" sz="2500" b="1" dirty="0">
                <a:latin typeface="Avenir Next LT Pro Light" panose="020B0304020202020204" pitchFamily="34" charset="0"/>
              </a:rPr>
              <a:t>why don’t we gamify the learning</a:t>
            </a:r>
            <a:r>
              <a:rPr lang="en-US" sz="2500" dirty="0">
                <a:latin typeface="Avenir Next LT Pro Light" panose="020B0304020202020204" pitchFamily="34" charset="0"/>
              </a:rPr>
              <a:t> so children could have </a:t>
            </a:r>
            <a:r>
              <a:rPr lang="en-US" sz="2500" b="1" dirty="0">
                <a:latin typeface="Avenir Next LT Pro Light" panose="020B0304020202020204" pitchFamily="34" charset="0"/>
              </a:rPr>
              <a:t>fun while learning </a:t>
            </a:r>
            <a:r>
              <a:rPr lang="en-US" sz="2500" dirty="0">
                <a:latin typeface="Avenir Next LT Pro Light" panose="020B0304020202020204" pitchFamily="34" charset="0"/>
              </a:rPr>
              <a:t>. </a:t>
            </a:r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9A25AB4-0A40-442D-BA1B-96AA2675B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3736" y="2877954"/>
            <a:ext cx="7739546" cy="38789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69911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A5C1D-E3D5-4EC3-A86C-296825DF2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50258"/>
            <a:ext cx="10018713" cy="1193531"/>
          </a:xfrm>
        </p:spPr>
        <p:txBody>
          <a:bodyPr>
            <a:norm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SOLUTION </a:t>
            </a:r>
            <a:r>
              <a:rPr lang="en-US" dirty="0"/>
              <a:t> </a:t>
            </a:r>
            <a:endParaRPr lang="en-IN" dirty="0"/>
          </a:p>
        </p:txBody>
      </p:sp>
      <p:pic>
        <p:nvPicPr>
          <p:cNvPr id="1026" name="Picture 2" descr="167 Gamification Learning Illustrations &amp; Clip Art - iStock">
            <a:extLst>
              <a:ext uri="{FF2B5EF4-FFF2-40B4-BE49-F238E27FC236}">
                <a16:creationId xmlns:a16="http://schemas.microsoft.com/office/drawing/2014/main" id="{A5CD0204-2BCB-40DE-8807-926AA2E449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3818" y="1730142"/>
            <a:ext cx="9045727" cy="4343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68269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Gamification motivating student learning process">
            <a:extLst>
              <a:ext uri="{FF2B5EF4-FFF2-40B4-BE49-F238E27FC236}">
                <a16:creationId xmlns:a16="http://schemas.microsoft.com/office/drawing/2014/main" id="{8134AC45-7D3A-49B4-9E92-AFA00785D4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936" y="519764"/>
            <a:ext cx="8778240" cy="56307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29674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64297-8FD9-4DE1-A32D-AC20CD124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73256"/>
            <a:ext cx="10018713" cy="1915426"/>
          </a:xfrm>
        </p:spPr>
        <p:txBody>
          <a:bodyPr>
            <a:norm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Games Format 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FA74B-BCCF-4E34-B329-205D71B50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03158"/>
            <a:ext cx="10018713" cy="517839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venir Next LT Pro Light" panose="020B0304020202020204" pitchFamily="34" charset="0"/>
              </a:rPr>
              <a:t>All the games will based on content a </a:t>
            </a:r>
            <a:r>
              <a:rPr lang="en-IN" dirty="0">
                <a:latin typeface="Avenir Next LT Pro Light" panose="020B0304020202020204" pitchFamily="34" charset="0"/>
              </a:rPr>
              <a:t>toddler or a pre-teen has to learn at their particular age 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Avenir Next LT Pro Light" panose="020B0304020202020204" pitchFamily="34" charset="0"/>
              </a:rPr>
              <a:t>For a toddler </a:t>
            </a:r>
            <a:r>
              <a:rPr lang="en-IN" dirty="0">
                <a:latin typeface="Avenir Next LT Pro Light" panose="020B0304020202020204" pitchFamily="34" charset="0"/>
              </a:rPr>
              <a:t>, it maybe hearing rhymes , identifying things or objects ,   learning numbers , picture matching 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Avenir Next LT Pro Light" panose="020B0304020202020204" pitchFamily="34" charset="0"/>
              </a:rPr>
              <a:t>For a pre-teen </a:t>
            </a:r>
            <a:r>
              <a:rPr lang="en-IN" dirty="0">
                <a:latin typeface="Avenir Next LT Pro Light" panose="020B0304020202020204" pitchFamily="34" charset="0"/>
              </a:rPr>
              <a:t>, it will be based middle school curriculum that is based on the subjects the curriculum includes 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venir Next LT Pro Light" panose="020B0304020202020204" pitchFamily="34" charset="0"/>
              </a:rPr>
              <a:t>The </a:t>
            </a:r>
            <a:r>
              <a:rPr lang="en-IN" b="1" dirty="0">
                <a:latin typeface="Avenir Next LT Pro Light" panose="020B0304020202020204" pitchFamily="34" charset="0"/>
              </a:rPr>
              <a:t>game format </a:t>
            </a:r>
            <a:r>
              <a:rPr lang="en-IN" dirty="0">
                <a:latin typeface="Avenir Next LT Pro Light" panose="020B0304020202020204" pitchFamily="34" charset="0"/>
              </a:rPr>
              <a:t>will be changed </a:t>
            </a:r>
            <a:r>
              <a:rPr lang="en-IN" b="1" dirty="0">
                <a:latin typeface="Avenir Next LT Pro Light" panose="020B0304020202020204" pitchFamily="34" charset="0"/>
              </a:rPr>
              <a:t>based on the age of the individual.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0278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701B1-0EA2-4FB5-8E89-A8298E94C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937" y="810828"/>
            <a:ext cx="10018712" cy="989096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FOR A TODDLER – GAME </a:t>
            </a:r>
          </a:p>
        </p:txBody>
      </p:sp>
      <p:pic>
        <p:nvPicPr>
          <p:cNvPr id="1026" name="Picture 2" descr="Start button vector icon stock vector. Illustration of glyph - 212123497">
            <a:extLst>
              <a:ext uri="{FF2B5EF4-FFF2-40B4-BE49-F238E27FC236}">
                <a16:creationId xmlns:a16="http://schemas.microsoft.com/office/drawing/2014/main" id="{0AD63C1A-AFF5-4B9C-BD75-47715AC6D34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753" y="2438400"/>
            <a:ext cx="3154004" cy="30916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28" name="Picture 4" descr="Download and share Exit Game Icon Png, Cartoon. Seach more similar FREE  transparent cliparts ,carttons and silhouettes. | Game icon, Icon, Png">
            <a:extLst>
              <a:ext uri="{FF2B5EF4-FFF2-40B4-BE49-F238E27FC236}">
                <a16:creationId xmlns:a16="http://schemas.microsoft.com/office/drawing/2014/main" id="{433FD8A2-9F84-41D5-9BFF-EF348EACB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438399"/>
            <a:ext cx="3154004" cy="30916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30" name="Picture 6" descr="Game Setting Icon - Download in Colored Outline Style">
            <a:extLst>
              <a:ext uri="{FF2B5EF4-FFF2-40B4-BE49-F238E27FC236}">
                <a16:creationId xmlns:a16="http://schemas.microsoft.com/office/drawing/2014/main" id="{57243364-2037-467A-B8B6-AB81EB099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535" y="2438398"/>
            <a:ext cx="2926114" cy="30916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16101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3BAC30-E6A9-4A9B-A56D-74FB56368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271" y="140768"/>
            <a:ext cx="10018713" cy="2236671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Game Rules 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B9F84-BF7C-4A3C-AA49-0FBE2B64B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8523" y="1039529"/>
            <a:ext cx="10138667" cy="581847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Avenir Next LT Pro Light" panose="020B0304020202020204" pitchFamily="34" charset="0"/>
              </a:rPr>
              <a:t>The Game Begins </a:t>
            </a:r>
            <a:r>
              <a:rPr lang="en-US" dirty="0">
                <a:latin typeface="Avenir Next LT Pro Light" panose="020B0304020202020204" pitchFamily="34" charset="0"/>
              </a:rPr>
              <a:t>, different categories will appear for choosing for example fruits , vegetables , animals 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venir Next LT Pro Light" panose="020B0304020202020204" pitchFamily="34" charset="0"/>
              </a:rPr>
              <a:t>On choosing the category , the toddler has to </a:t>
            </a:r>
            <a:r>
              <a:rPr lang="en-US" b="1" dirty="0">
                <a:latin typeface="Avenir Next LT Pro Light" panose="020B0304020202020204" pitchFamily="34" charset="0"/>
              </a:rPr>
              <a:t>identify the thing or object </a:t>
            </a:r>
            <a:r>
              <a:rPr lang="en-US" dirty="0">
                <a:latin typeface="Avenir Next LT Pro Light" panose="020B0304020202020204" pitchFamily="34" charset="0"/>
              </a:rPr>
              <a:t>displayed on the screen 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venir Next LT Pro Light" panose="020B0304020202020204" pitchFamily="34" charset="0"/>
              </a:rPr>
              <a:t>After choosing the </a:t>
            </a:r>
            <a:r>
              <a:rPr lang="en-US" b="1" dirty="0">
                <a:latin typeface="Avenir Next LT Pro Light" panose="020B0304020202020204" pitchFamily="34" charset="0"/>
              </a:rPr>
              <a:t>right answer </a:t>
            </a:r>
            <a:r>
              <a:rPr lang="en-US" dirty="0">
                <a:latin typeface="Avenir Next LT Pro Light" panose="020B0304020202020204" pitchFamily="34" charset="0"/>
              </a:rPr>
              <a:t>the toddler gets </a:t>
            </a:r>
            <a:r>
              <a:rPr lang="en-US" b="1" dirty="0">
                <a:latin typeface="Avenir Next LT Pro Light" panose="020B0304020202020204" pitchFamily="34" charset="0"/>
              </a:rPr>
              <a:t>coins</a:t>
            </a:r>
            <a:r>
              <a:rPr lang="en-US" dirty="0">
                <a:latin typeface="Avenir Next LT Pro Light" panose="020B0304020202020204" pitchFamily="34" charset="0"/>
              </a:rPr>
              <a:t> and if the </a:t>
            </a:r>
            <a:r>
              <a:rPr lang="en-US" b="1" dirty="0">
                <a:latin typeface="Avenir Next LT Pro Light" panose="020B0304020202020204" pitchFamily="34" charset="0"/>
              </a:rPr>
              <a:t>answer </a:t>
            </a:r>
            <a:r>
              <a:rPr lang="en-US" dirty="0">
                <a:latin typeface="Avenir Next LT Pro Light" panose="020B0304020202020204" pitchFamily="34" charset="0"/>
              </a:rPr>
              <a:t>goes </a:t>
            </a:r>
            <a:r>
              <a:rPr lang="en-US" b="1" dirty="0">
                <a:latin typeface="Avenir Next LT Pro Light" panose="020B0304020202020204" pitchFamily="34" charset="0"/>
              </a:rPr>
              <a:t>wrong </a:t>
            </a:r>
            <a:r>
              <a:rPr lang="en-US" dirty="0">
                <a:latin typeface="Avenir Next LT Pro Light" panose="020B0304020202020204" pitchFamily="34" charset="0"/>
              </a:rPr>
              <a:t>there will be </a:t>
            </a:r>
            <a:r>
              <a:rPr lang="en-US" b="1" dirty="0">
                <a:latin typeface="Avenir Next LT Pro Light" panose="020B0304020202020204" pitchFamily="34" charset="0"/>
              </a:rPr>
              <a:t>2 more chances </a:t>
            </a:r>
            <a:r>
              <a:rPr lang="en-US" dirty="0">
                <a:latin typeface="Avenir Next LT Pro Light" panose="020B0304020202020204" pitchFamily="34" charset="0"/>
              </a:rPr>
              <a:t>to answer the question given 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venir Next LT Pro Light" panose="020B0304020202020204" pitchFamily="34" charset="0"/>
              </a:rPr>
              <a:t>If the all</a:t>
            </a:r>
            <a:r>
              <a:rPr lang="en-US" b="1" dirty="0">
                <a:latin typeface="Avenir Next LT Pro Light" panose="020B0304020202020204" pitchFamily="34" charset="0"/>
              </a:rPr>
              <a:t> answers are wrong </a:t>
            </a:r>
            <a:r>
              <a:rPr lang="en-US" dirty="0">
                <a:latin typeface="Avenir Next LT Pro Light" panose="020B0304020202020204" pitchFamily="34" charset="0"/>
              </a:rPr>
              <a:t>, </a:t>
            </a:r>
            <a:r>
              <a:rPr lang="en-US" b="1" dirty="0">
                <a:latin typeface="Avenir Next LT Pro Light" panose="020B0304020202020204" pitchFamily="34" charset="0"/>
              </a:rPr>
              <a:t>no</a:t>
            </a:r>
            <a:r>
              <a:rPr lang="en-US" dirty="0">
                <a:latin typeface="Avenir Next LT Pro Light" panose="020B0304020202020204" pitchFamily="34" charset="0"/>
              </a:rPr>
              <a:t> </a:t>
            </a:r>
            <a:r>
              <a:rPr lang="en-US" b="1" dirty="0">
                <a:latin typeface="Avenir Next LT Pro Light" panose="020B0304020202020204" pitchFamily="34" charset="0"/>
              </a:rPr>
              <a:t>coins are rewarded . </a:t>
            </a:r>
            <a:endParaRPr lang="en-IN" dirty="0">
              <a:latin typeface="Avenir Next LT Pro Light" panose="020B0304020202020204" pitchFamily="34" charset="0"/>
            </a:endParaRPr>
          </a:p>
        </p:txBody>
      </p:sp>
      <p:sp>
        <p:nvSpPr>
          <p:cNvPr id="6" name="AutoShape 2" descr="Baby Learning Tablet Toy Games - Apps on Google Play">
            <a:extLst>
              <a:ext uri="{FF2B5EF4-FFF2-40B4-BE49-F238E27FC236}">
                <a16:creationId xmlns:a16="http://schemas.microsoft.com/office/drawing/2014/main" id="{38D3AD1D-1544-4A1C-B7EF-8945FE8040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4" descr="Baby Learning Tablet Toy Games - Apps on Google Play">
            <a:extLst>
              <a:ext uri="{FF2B5EF4-FFF2-40B4-BE49-F238E27FC236}">
                <a16:creationId xmlns:a16="http://schemas.microsoft.com/office/drawing/2014/main" id="{7AB9D8E9-6D2C-4901-BA65-6383670418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68726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436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F3F9E-FD77-4D4A-98DE-A9373E3F3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26194"/>
            <a:ext cx="10018713" cy="1121344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For a pre-teen – Game 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9A21B-874B-44E8-AB90-0D6DBDAA9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212783"/>
            <a:ext cx="10220009" cy="541902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Based on the subject in the curriculum 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For example , Math which include addition , subtraction, multiplication and division at the pre-teen age 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Using different objects while teaching </a:t>
            </a:r>
            <a:r>
              <a:rPr lang="en-US" dirty="0"/>
              <a:t>rather than using the same old numbers 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This </a:t>
            </a:r>
            <a:r>
              <a:rPr lang="en-US" b="1" dirty="0"/>
              <a:t>enhances interest while learning </a:t>
            </a:r>
            <a:r>
              <a:rPr lang="en-US" dirty="0"/>
              <a:t>and leads to a feeling wanting to learn more 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Other subjects like be </a:t>
            </a:r>
            <a:r>
              <a:rPr lang="en-US" b="1" dirty="0"/>
              <a:t>Science can taught using</a:t>
            </a:r>
            <a:r>
              <a:rPr lang="en-US" dirty="0"/>
              <a:t> </a:t>
            </a:r>
            <a:r>
              <a:rPr lang="en-US" b="1" dirty="0"/>
              <a:t>visuals</a:t>
            </a:r>
            <a:r>
              <a:rPr lang="en-US" dirty="0"/>
              <a:t> rather than teaching verbally 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2187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5E8E990-5B22-4782-861F-90D84AF3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977" y="685800"/>
            <a:ext cx="3206047" cy="5483994"/>
          </a:xfrm>
        </p:spPr>
        <p:txBody>
          <a:bodyPr>
            <a:normAutofit/>
          </a:bodyPr>
          <a:lstStyle/>
          <a:p>
            <a:r>
              <a:rPr lang="en-US" dirty="0"/>
              <a:t>                              </a:t>
            </a:r>
            <a:r>
              <a:rPr lang="en-US" dirty="0">
                <a:solidFill>
                  <a:schemeClr val="accent4"/>
                </a:solidFill>
                <a:latin typeface="Avenir Next LT Pro Light" panose="020B0304020202020204" pitchFamily="34" charset="0"/>
              </a:rPr>
              <a:t>Choose </a:t>
            </a:r>
            <a:br>
              <a:rPr lang="en-US" dirty="0">
                <a:solidFill>
                  <a:schemeClr val="accent4"/>
                </a:solidFill>
                <a:latin typeface="Avenir Next LT Pro Light" panose="020B0304020202020204" pitchFamily="34" charset="0"/>
              </a:rPr>
            </a:br>
            <a:r>
              <a:rPr lang="en-US" dirty="0">
                <a:solidFill>
                  <a:schemeClr val="accent4"/>
                </a:solidFill>
                <a:latin typeface="Avenir Next LT Pro Light" panose="020B0304020202020204" pitchFamily="34" charset="0"/>
              </a:rPr>
              <a:t>a subject  </a:t>
            </a:r>
            <a:endParaRPr lang="en-IN" dirty="0">
              <a:solidFill>
                <a:schemeClr val="accent4"/>
              </a:solidFill>
              <a:latin typeface="Avenir Next LT Pro Light" panose="020B03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A137586-CD70-4644-89F5-0A41A5CC9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2855" y="2667000"/>
            <a:ext cx="3100170" cy="203012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32BA3A-CFCF-4590-A9C3-534336123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829" y="261036"/>
            <a:ext cx="5880761" cy="633352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56149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Gamification Startup For Pre-School Learning: Kidaptive - Gamification Co">
            <a:extLst>
              <a:ext uri="{FF2B5EF4-FFF2-40B4-BE49-F238E27FC236}">
                <a16:creationId xmlns:a16="http://schemas.microsoft.com/office/drawing/2014/main" id="{88EB4529-54E1-45E8-83E8-9334A55B550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688" y="413886"/>
            <a:ext cx="8556859" cy="57077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28476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47CA79A-841B-410E-99A4-D46D6DE03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05879"/>
            <a:ext cx="10018713" cy="1097280"/>
          </a:xfrm>
        </p:spPr>
        <p:txBody>
          <a:bodyPr>
            <a:norm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SCORE BOARD  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E9FBF7-EC77-44B9-884C-139DEFD2BD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0299" y="1203159"/>
            <a:ext cx="6179419" cy="55489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A4CDEC-36BE-4EB8-BC12-C6DA490D5580}"/>
              </a:ext>
            </a:extLst>
          </p:cNvPr>
          <p:cNvSpPr txBox="1"/>
          <p:nvPr/>
        </p:nvSpPr>
        <p:spPr>
          <a:xfrm>
            <a:off x="8412480" y="1848051"/>
            <a:ext cx="302233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Avenir Next LT Pro Light" panose="020B0304020202020204" pitchFamily="34" charset="0"/>
              </a:rPr>
              <a:t>Based on their level that is the score of the players , they will be segregated . </a:t>
            </a:r>
          </a:p>
          <a:p>
            <a:endParaRPr lang="en-US" sz="2400" dirty="0">
              <a:latin typeface="Avenir Next LT Pro Light" panose="020B0304020202020204" pitchFamily="34" charset="0"/>
            </a:endParaRPr>
          </a:p>
          <a:p>
            <a:r>
              <a:rPr lang="en-US" sz="2400" dirty="0">
                <a:latin typeface="Avenir Next LT Pro Light" panose="020B0304020202020204" pitchFamily="34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Avenir Next LT Pro Light" panose="020B0304020202020204" pitchFamily="34" charset="0"/>
              </a:rPr>
              <a:t>Then they can move on to next level by increasing their score </a:t>
            </a:r>
            <a:r>
              <a:rPr lang="en-US" dirty="0">
                <a:latin typeface="Avenir Next LT Pro Light" panose="020B0304020202020204" pitchFamily="34" charset="0"/>
              </a:rPr>
              <a:t>. </a:t>
            </a:r>
            <a:endParaRPr lang="en-IN" dirty="0">
              <a:latin typeface="Avenir Next LT Pro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36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E3272-CB0F-4EB8-A9E2-2D80A4F95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35280"/>
            <a:ext cx="10018713" cy="1195138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REWARD TIME 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74790-9004-409E-9355-45AA62043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8544" y="1434165"/>
            <a:ext cx="10202778" cy="11766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Avenir Next LT Pro Light" panose="020B0304020202020204" pitchFamily="34" charset="0"/>
              </a:rPr>
              <a:t>Depending on the scores of individuals that is they collect coins using the coins the players can buy goodies like stationary , toys , candies , board games . </a:t>
            </a:r>
            <a:endParaRPr lang="en-IN" dirty="0">
              <a:latin typeface="Avenir Next LT Pro Light" panose="020B0304020202020204" pitchFamily="34" charset="0"/>
            </a:endParaRPr>
          </a:p>
        </p:txBody>
      </p:sp>
      <p:pic>
        <p:nvPicPr>
          <p:cNvPr id="1026" name="Picture 2" descr="Game Shopping Consumption Gold Coins PNG Transparent And Clipart Image For  Free Download - Lovepik | 401751616">
            <a:extLst>
              <a:ext uri="{FF2B5EF4-FFF2-40B4-BE49-F238E27FC236}">
                <a16:creationId xmlns:a16="http://schemas.microsoft.com/office/drawing/2014/main" id="{70FDDF25-0327-4155-84F0-4B30FE0C0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185" y="2776935"/>
            <a:ext cx="4210636" cy="35372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28" name="Picture 4" descr="Goodies, Games, &amp; Gabs - Akron-Summit County Public Library">
            <a:extLst>
              <a:ext uri="{FF2B5EF4-FFF2-40B4-BE49-F238E27FC236}">
                <a16:creationId xmlns:a16="http://schemas.microsoft.com/office/drawing/2014/main" id="{19608CA1-79C8-445D-95EB-E533F550D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933" y="2776935"/>
            <a:ext cx="4210636" cy="33607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039749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2C407-E6C0-4585-9DF6-BF10F00F8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346509"/>
            <a:ext cx="10018713" cy="1732547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Gaming Mindset 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83636-8D76-49BE-A7D7-FDF8CBC1B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794368"/>
            <a:ext cx="10274288" cy="327333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venir Next LT Pro Light" panose="020B0304020202020204" pitchFamily="34" charset="0"/>
              </a:rPr>
              <a:t>Play </a:t>
            </a:r>
            <a:r>
              <a:rPr lang="en-IN" dirty="0">
                <a:latin typeface="Avenir Next LT Pro Light" panose="020B0304020202020204" pitchFamily="34" charset="0"/>
              </a:rPr>
              <a:t>– Games = Goals + rules +</a:t>
            </a:r>
          </a:p>
          <a:p>
            <a:pPr marL="0" indent="0">
              <a:buNone/>
            </a:pPr>
            <a:r>
              <a:rPr lang="en-IN" dirty="0">
                <a:latin typeface="Avenir Next LT Pro Light" panose="020B0304020202020204" pitchFamily="34" charset="0"/>
              </a:rPr>
              <a:t>     play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venir Next LT Pro Light" panose="020B0304020202020204" pitchFamily="34" charset="0"/>
              </a:rPr>
              <a:t>Growth mindset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venir Next LT Pro Light" panose="020B0304020202020204" pitchFamily="34" charset="0"/>
              </a:rPr>
              <a:t>Learn from Failure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venir Next LT Pro Light" panose="020B0304020202020204" pitchFamily="34" charset="0"/>
              </a:rPr>
              <a:t>Flow </a:t>
            </a:r>
            <a:endParaRPr lang="en-US" dirty="0">
              <a:latin typeface="Avenir Next LT Pro Light" panose="020B0304020202020204" pitchFamily="34" charset="0"/>
            </a:endParaRPr>
          </a:p>
        </p:txBody>
      </p:sp>
      <p:pic>
        <p:nvPicPr>
          <p:cNvPr id="4098" name="Picture 2" descr="Gameful Mindset - GameTrain Learning">
            <a:extLst>
              <a:ext uri="{FF2B5EF4-FFF2-40B4-BE49-F238E27FC236}">
                <a16:creationId xmlns:a16="http://schemas.microsoft.com/office/drawing/2014/main" id="{51350904-1803-4485-A2EA-9B2F337EE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298" y="2213810"/>
            <a:ext cx="5678905" cy="42976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39796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693C4-FC4B-49DD-8CA4-6C17884DE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11755"/>
            <a:ext cx="10018713" cy="41388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lgerian" panose="04020705040A02060702" pitchFamily="82" charset="0"/>
              </a:rPr>
              <a:t>Benefits of Gamified Learning 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B79AB0A-444A-45BC-8881-1322254E91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0931" y="818148"/>
            <a:ext cx="8614610" cy="59099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76660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F1FAD-C741-4AD8-887F-ACA9C8EB2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385010"/>
            <a:ext cx="10018713" cy="1164658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MOTIVATION FOR THE IDEA 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75AE5-280F-4B06-B107-7C383FBE4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064" y="1482291"/>
            <a:ext cx="10018713" cy="537570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dirty="0">
                <a:latin typeface="Avenir Next LT Pro Light" panose="020B0304020202020204" pitchFamily="34" charset="0"/>
              </a:rPr>
              <a:t>Nowadays , students from all the age group lose their interest during classes and their mind wonders all around this leads to loss in their learning so </a:t>
            </a:r>
            <a:r>
              <a:rPr lang="en-US" sz="2600" b="1" dirty="0">
                <a:latin typeface="Avenir Next LT Pro Light" panose="020B0304020202020204" pitchFamily="34" charset="0"/>
              </a:rPr>
              <a:t>why not gamify the learning process </a:t>
            </a:r>
            <a:r>
              <a:rPr lang="en-US" sz="2600" dirty="0">
                <a:latin typeface="Avenir Next LT Pro Light" panose="020B0304020202020204" pitchFamily="34" charset="0"/>
              </a:rPr>
              <a:t>so that it actually </a:t>
            </a:r>
            <a:r>
              <a:rPr lang="en-US" sz="2600" b="1" dirty="0">
                <a:latin typeface="Avenir Next LT Pro Light" panose="020B0304020202020204" pitchFamily="34" charset="0"/>
              </a:rPr>
              <a:t>catches children's attention</a:t>
            </a:r>
            <a:r>
              <a:rPr lang="en-US" sz="2600" dirty="0">
                <a:latin typeface="Avenir Next LT Pro Light" panose="020B0304020202020204" pitchFamily="34" charset="0"/>
              </a:rPr>
              <a:t> and they could </a:t>
            </a:r>
            <a:r>
              <a:rPr lang="en-US" sz="2600" b="1" dirty="0">
                <a:latin typeface="Avenir Next LT Pro Light" panose="020B0304020202020204" pitchFamily="34" charset="0"/>
              </a:rPr>
              <a:t>learn with interest </a:t>
            </a:r>
            <a:r>
              <a:rPr lang="en-US" sz="2600" dirty="0">
                <a:latin typeface="Avenir Next LT Pro Light" panose="020B0304020202020204" pitchFamily="34" charset="0"/>
              </a:rPr>
              <a:t>and it would also be a more practical way of learning which can be understood more efficiently rather than verbal lectures .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600" b="0" i="0" dirty="0">
                <a:solidFill>
                  <a:srgbClr val="0C0C0D"/>
                </a:solidFill>
                <a:effectLst/>
                <a:latin typeface="Avenir Next LT Pro Light" panose="020B0304020202020204" pitchFamily="34" charset="0"/>
              </a:rPr>
              <a:t>Action - Destruction, Excitement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600" b="0" i="0" dirty="0">
                <a:solidFill>
                  <a:srgbClr val="0C0C0D"/>
                </a:solidFill>
                <a:effectLst/>
                <a:latin typeface="Avenir Next LT Pro Light" panose="020B0304020202020204" pitchFamily="34" charset="0"/>
              </a:rPr>
              <a:t>Social - Competition, Community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600" b="0" i="0" dirty="0">
                <a:solidFill>
                  <a:srgbClr val="0C0C0D"/>
                </a:solidFill>
                <a:effectLst/>
                <a:latin typeface="Avenir Next LT Pro Light" panose="020B0304020202020204" pitchFamily="34" charset="0"/>
              </a:rPr>
              <a:t>Mastery - Challenge, Strategy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600" b="0" i="0" dirty="0">
                <a:solidFill>
                  <a:srgbClr val="0C0C0D"/>
                </a:solidFill>
                <a:effectLst/>
                <a:latin typeface="Avenir Next LT Pro Light" panose="020B0304020202020204" pitchFamily="34" charset="0"/>
              </a:rPr>
              <a:t>Achievement - Completion, Power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600" b="0" i="0" dirty="0">
                <a:solidFill>
                  <a:srgbClr val="0C0C0D"/>
                </a:solidFill>
                <a:effectLst/>
                <a:latin typeface="Avenir Next LT Pro Light" panose="020B0304020202020204" pitchFamily="34" charset="0"/>
              </a:rPr>
              <a:t>Immersion - Fantasy, Story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600" b="0" i="0" dirty="0">
                <a:solidFill>
                  <a:srgbClr val="0C0C0D"/>
                </a:solidFill>
                <a:effectLst/>
                <a:latin typeface="Avenir Next LT Pro Light" panose="020B0304020202020204" pitchFamily="34" charset="0"/>
              </a:rPr>
              <a:t>Creativity - Design, Discovery 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94270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D7293-1F4E-4128-B72F-8759D616B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37" y="1097281"/>
            <a:ext cx="10155489" cy="2993456"/>
          </a:xfrm>
        </p:spPr>
        <p:txBody>
          <a:bodyPr>
            <a:normAutofit/>
          </a:bodyPr>
          <a:lstStyle/>
          <a:p>
            <a:pPr algn="ctr"/>
            <a:r>
              <a:rPr lang="en-US" sz="6600" dirty="0">
                <a:solidFill>
                  <a:srgbClr val="FF0000"/>
                </a:solidFill>
                <a:latin typeface="Algerian" panose="04020705040A02060702" pitchFamily="82" charset="0"/>
              </a:rPr>
              <a:t>THANK YOU !</a:t>
            </a:r>
            <a:endParaRPr lang="en-IN" sz="66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2011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208</TotalTime>
  <Words>604</Words>
  <Application>Microsoft Office PowerPoint</Application>
  <PresentationFormat>Widescreen</PresentationFormat>
  <Paragraphs>63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Algerian</vt:lpstr>
      <vt:lpstr>Arial</vt:lpstr>
      <vt:lpstr>Avenir Next LT Pro Light</vt:lpstr>
      <vt:lpstr>Corbel</vt:lpstr>
      <vt:lpstr>Roboto</vt:lpstr>
      <vt:lpstr>Wingdings</vt:lpstr>
      <vt:lpstr>Parallax</vt:lpstr>
      <vt:lpstr>Team name : BISQUAD   Team Captain Name : Suryadevara                          Sanjana   Team Captain Email :  sanjanasuryadevara2004@gmail.com  No. of Team Numbers : 2  Team Details : Suryadevara Sanjana                             Kollu Bargavi       </vt:lpstr>
      <vt:lpstr>DOMAIN AND PROBLEM STATEMENT </vt:lpstr>
      <vt:lpstr>Gamified Learning </vt:lpstr>
      <vt:lpstr>PowerPoint Presentation</vt:lpstr>
      <vt:lpstr>PROBLEM </vt:lpstr>
      <vt:lpstr>SOLUTION  </vt:lpstr>
      <vt:lpstr>PowerPoint Presentation</vt:lpstr>
      <vt:lpstr>Games Format </vt:lpstr>
      <vt:lpstr>FOR A TODDLER – GAME </vt:lpstr>
      <vt:lpstr>Game Rules </vt:lpstr>
      <vt:lpstr>For a pre-teen – Game </vt:lpstr>
      <vt:lpstr>                              Choose  a subject  </vt:lpstr>
      <vt:lpstr>PowerPoint Presentation</vt:lpstr>
      <vt:lpstr>SCORE BOARD  </vt:lpstr>
      <vt:lpstr>REWARD TIME </vt:lpstr>
      <vt:lpstr>Gaming Mindset </vt:lpstr>
      <vt:lpstr>Benefits of Gamified Learning </vt:lpstr>
      <vt:lpstr>MOTIVATION FOR THE IDEA 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name :   Team Captain Name :   Team Captain Email :   No. of Team Numbers : 2  Team Details : Suryadevara Sanjana                                 Kollu Bargavi</dc:title>
  <dc:creator>Sanjana Suryadevara</dc:creator>
  <cp:lastModifiedBy>Sanjana Suryadevara</cp:lastModifiedBy>
  <cp:revision>11</cp:revision>
  <dcterms:created xsi:type="dcterms:W3CDTF">2022-10-08T13:15:40Z</dcterms:created>
  <dcterms:modified xsi:type="dcterms:W3CDTF">2026-09-13T19:33:32Z</dcterms:modified>
</cp:coreProperties>
</file>